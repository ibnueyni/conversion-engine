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FEF993-3024-4562-87CD-EC45A2C334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C0DDC5-8C15-43A0-AFB1-991982FA5B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69741-89CF-46F1-B4AB-FE55EF64EF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BEE1B-ACA4-4623-BA2C-901117BD52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C5A1F-E22E-4E06-8BA6-0BD50361CA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E54405-6D3B-4E03-A3DA-F457CE7A5B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5AB268-691B-4298-AA31-B43C994EDC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1DE763-2A0D-49BD-9CDB-5436F5E485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CDF90D-A80D-47C5-8EBB-5E3427B78C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63EDAE-7CDC-4C2B-A56E-21E27F46A6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388636-AD9D-475E-A31C-3EC9AA8B8A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C63B8A-05E2-45FC-8079-58552CB557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A34641-67CF-4499-9787-30EA7504C63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914400" y="1371600"/>
            <a:ext cx="10058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The Conversion Engine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14400" y="2743200"/>
            <a:ext cx="1005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7acc"/>
                </a:solidFill>
                <a:latin typeface="Calibri"/>
              </a:rPr>
              <a:t>Automated Lead Generation and Conversion System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914400" y="347472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7f8c8d"/>
                </a:solidFill>
                <a:latin typeface="Calibri"/>
              </a:rPr>
              <a:t>for Tenacious Consulting &amp; Outsourcing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914400" y="502920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f8c8d"/>
                </a:solidFill>
                <a:latin typeface="Calibri"/>
              </a:rPr>
              <a:t>Amir Ahmedin  •  Week 10 Challenge  •  April 2026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The Problem Tenacious Faces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6" name="TextBox 2"/>
          <p:cNvSpPr/>
          <p:nvPr/>
        </p:nvSpPr>
        <p:spPr>
          <a:xfrm>
            <a:off x="731520" y="1463040"/>
            <a:ext cx="10058040" cy="25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4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①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Manual prospecting — Partners browse LinkedIn ad-hoc, no systematic market coverage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4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②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Inconsistent qualification — Same company gets different pitches depending on who writes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4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③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Slow follow-up — 30–40% of qualified conversations stall because the person can't keep up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" name="TextBox 3"/>
          <p:cNvSpPr/>
          <p:nvPr/>
        </p:nvSpPr>
        <p:spPr>
          <a:xfrm>
            <a:off x="731520" y="4754880"/>
            <a:ext cx="10058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74c3c"/>
                </a:solidFill>
                <a:latin typeface="Calibri"/>
              </a:rPr>
              <a:t>Revenue consequence: Conversations stall not because the prospect said no, but because Tenacious didn't keep up.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What We Built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9" name="TextBox 2"/>
          <p:cNvSpPr/>
          <p:nvPr/>
        </p:nvSpPr>
        <p:spPr>
          <a:xfrm>
            <a:off x="731520" y="1371600"/>
            <a:ext cx="10058040" cy="40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🔍 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Finds prospects from public data (Crunchbase, job posts, layoffs.fyi)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🔬 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Researches each prospect deeply (AI maturity, competitor gaps, hiring velocity)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🎯 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Qualifies into 4 ICP segments with confidence scoring + abstention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✉️ 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Writes signal-grounded outreach emails (not generic pitches)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💬 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Handles multi-turn replies with objection handling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📅 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Books discovery calls via Cal.com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01"/>
              </a:spcAft>
              <a:buNone/>
            </a:pP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📊  </a:t>
            </a:r>
            <a:r>
              <a:rPr b="0" lang="en-US" sz="2000" spc="-1" strike="noStrike">
                <a:solidFill>
                  <a:srgbClr val="1a1a2e"/>
                </a:solidFill>
                <a:latin typeface="Calibri"/>
              </a:rPr>
              <a:t>Syncs everything to HubSpot CRM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System Architecture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731520" y="1371600"/>
            <a:ext cx="5028840" cy="23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ENRICHMENT PIPELINE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Crunchbase ODM (firmographics + funding)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Layoffs.fyi (CSV parser)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Job Posts (Playwright scraper)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Leadership Detection (CB + web)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AI Maturity Scorer (LLM, 0–3)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Competitor Gap Analysis (LLM)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6217920" y="1371600"/>
            <a:ext cx="5028840" cy="30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CHANNEL HIERARCHY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①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Email (Resend) — primary cold outreach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②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SMS (Africa's Talking) — warm leads only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Voice (Cal.com) — human-delivered call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INTEGRATIONS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HubSpot CRM (contacts, deals, notes)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Langfuse (observability + cost tracking)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Kill switch: LIVE_MODE=false by default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731520" y="548640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f8c8d"/>
                </a:solidFill>
                <a:latin typeface="Calibri"/>
              </a:rPr>
              <a:t>FastAPI Orchestrator  •  Deployed on Render  •  All outputs marked draft: true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1"/>
          <p:cNvSpPr/>
          <p:nvPr/>
        </p:nvSpPr>
        <p:spPr>
          <a:xfrm>
            <a:off x="731520" y="365760"/>
            <a:ext cx="10058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Enrichment Pipeline — 6 Signal Sources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55" name="Table 2"/>
          <p:cNvGraphicFramePr/>
          <p:nvPr/>
        </p:nvGraphicFramePr>
        <p:xfrm>
          <a:off x="869040" y="1676520"/>
          <a:ext cx="10515240" cy="411444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5320"/>
              </a:tblGrid>
              <a:tr h="587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What It Tells Us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Firmographics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Crunchbase ODM (1,001 companies)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Industry, size, location, funding history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Funding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Crunchbase funding rounds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Series A/B in 180 days → fresh budget, buying window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Layoffs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layoffs.fyi CSV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Cost pressure → route to Segment 2 (restructuring)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Job Posts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Playwright career page scraper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Hiring velocity, tech stack, AI/ML roles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Leadership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Crunchbase + web scrape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New CTO in 90 days → Segment 3 (transition window)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AI Maturity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LLM scoring (0–3)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Gates Segment 4, shifts pitch language for Seg 1 &amp; 2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6" name="TextBox 3"/>
          <p:cNvSpPr/>
          <p:nvPr/>
        </p:nvSpPr>
        <p:spPr>
          <a:xfrm>
            <a:off x="731520" y="583920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7acc"/>
                </a:solidFill>
                <a:latin typeface="Calibri"/>
              </a:rPr>
              <a:t>Plus: Competitor Gap Analysis — compares prospect against sector top quartile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AI Maturity Scoring (0–3)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58" name="Table 2"/>
          <p:cNvGraphicFramePr/>
          <p:nvPr/>
        </p:nvGraphicFramePr>
        <p:xfrm>
          <a:off x="731520" y="1280160"/>
          <a:ext cx="5028840" cy="2559960"/>
        </p:xfrm>
        <a:graphic>
          <a:graphicData uri="http://schemas.openxmlformats.org/drawingml/2006/table">
            <a:tbl>
              <a:tblPr/>
              <a:tblGrid>
                <a:gridCol w="1676160"/>
                <a:gridCol w="1676160"/>
                <a:gridCol w="1676520"/>
              </a:tblGrid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 Pattern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No public AI signal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Zero HIGH-weight signals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Early signals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1–2 MEDIUM/LOW, no AI roles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Active engagement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AI roles OR named AI leadership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Mature AI function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Multiple HIGH signals across categories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9" name="TextBox 3"/>
          <p:cNvSpPr/>
          <p:nvPr/>
        </p:nvSpPr>
        <p:spPr>
          <a:xfrm>
            <a:off x="6400800" y="1280160"/>
            <a:ext cx="5028840" cy="24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6 Weighted Signal Inputs: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HIGH:  AI-adjacent open roles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HIGH:  Named AI/ML leadership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MED:   Public GitHub AI activity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MED:   Executive AI commentary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LOW:   Modern data/ML stack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LOW:   Strategic communications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" name="TextBox 4"/>
          <p:cNvSpPr/>
          <p:nvPr/>
        </p:nvSpPr>
        <p:spPr>
          <a:xfrm>
            <a:off x="731520" y="438912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a1a2e"/>
                </a:solidFill>
                <a:latin typeface="Calibri"/>
              </a:rPr>
              <a:t>How it changes the pitch: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5"/>
          <p:cNvSpPr/>
          <p:nvPr/>
        </p:nvSpPr>
        <p:spPr>
          <a:xfrm>
            <a:off x="731520" y="4937760"/>
            <a:ext cx="1005804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Score &lt; 2 → Segment 4 BLOCKED (hard gate — never pitch AI consulting to non-AI companies)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Score 2–3 + Segment 1: "Scale your AI team faster than hiring can support"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Score 0–1 + Segment 1: "Stand up your first AI function with a dedicated squad"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731520" y="365760"/>
            <a:ext cx="10058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ICP Classification — 4 Segments + Abstention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63" name="Table 2"/>
          <p:cNvGraphicFramePr/>
          <p:nvPr/>
        </p:nvGraphicFramePr>
        <p:xfrm>
          <a:off x="763560" y="1708920"/>
          <a:ext cx="10515240" cy="25599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8720"/>
                <a:gridCol w="2629080"/>
              </a:tblGrid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Pitch Angle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Restructuring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Layoff + funding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Cost lever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Leadership Transition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New CTO/VP Eng &lt; 90 days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Timing lever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Capability Gap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AI maturity ≥ 2 + gap signal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Project consulting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Recently Funded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Series A/B &lt; 180 days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Speed lever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26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Abstain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Confidence &lt; 0.6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Generic exploratory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3"/>
          <p:cNvSpPr/>
          <p:nvPr/>
        </p:nvSpPr>
        <p:spPr>
          <a:xfrm>
            <a:off x="731520" y="438228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74c3c"/>
                </a:solidFill>
                <a:latin typeface="Calibri"/>
              </a:rPr>
              <a:t>Hard Gates (absolute disqualifiers):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731520" y="4754880"/>
            <a:ext cx="10058040" cy="12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Post-layoff → never Segment 1 (don't tell a company cutting costs they're "scaling fast")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AI maturity &lt; 2 → never Segment 4 (don't pitch AI consulting to non-AI companies)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Headcount &lt; 50 → never Segment 3 (too small for vendor reassessment pitch)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2e"/>
                </a:solidFill>
                <a:latin typeface="Calibri"/>
              </a:rPr>
              <a:t>Layoff &gt; 40% → never Segment 2 (survival mode, not buying vendor services)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731520" y="365760"/>
            <a:ext cx="10058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Honesty Constraints — Ask, Don't Assert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67" name="Table 2"/>
          <p:cNvGraphicFramePr/>
          <p:nvPr/>
        </p:nvGraphicFramePr>
        <p:xfrm>
          <a:off x="920880" y="1761120"/>
          <a:ext cx="10514880" cy="274284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532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Agent Behavior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weak_hiring_velocity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 5 open roles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"It looks like you may be growing" not "You're scaling aggressively"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bench_gap_detected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Stack not on bench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Acknowledges gap honestly, doesn't promise capacity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weak_ai_maturity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Low confidence score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Asks rather than asserts AI readiness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tech_stack_inferred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No confirmed stack data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Frames as inference, not fact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8" name="TextBox 3"/>
          <p:cNvSpPr/>
          <p:nvPr/>
        </p:nvSpPr>
        <p:spPr>
          <a:xfrm>
            <a:off x="731520" y="475488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a1a2e"/>
                </a:solidFill>
                <a:latin typeface="Calibri"/>
              </a:rPr>
              <a:t>Why: Over-claiming damages Tenacious's reputation with a potential client</a:t>
            </a:r>
            <a:br>
              <a:rPr sz="1800"/>
            </a:br>
            <a:r>
              <a:rPr b="1" lang="en-US" sz="1800" spc="-1" strike="noStrike">
                <a:solidFill>
                  <a:srgbClr val="1a1a2e"/>
                </a:solidFill>
                <a:latin typeface="Calibri"/>
              </a:rPr>
              <a:t>more than silence would. One wrong "you recently raised" is unrecoverable.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Signal-Grounded vs Generic Outreach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731520" y="146304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74c3c"/>
                </a:solidFill>
                <a:latin typeface="Calibri"/>
              </a:rPr>
              <a:t>❌  </a:t>
            </a:r>
            <a:r>
              <a:rPr b="1" lang="en-US" sz="1800" spc="-1" strike="noStrike">
                <a:solidFill>
                  <a:srgbClr val="e74c3c"/>
                </a:solidFill>
                <a:latin typeface="Calibri"/>
              </a:rPr>
              <a:t>Generic (what most SDR tools produce):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1097280" y="2011680"/>
            <a:ext cx="9600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7f8c8d"/>
                </a:solidFill>
                <a:latin typeface="Calibri"/>
              </a:rPr>
              <a:t>"Hi, I noticed your company might benefit from offshore engineering talent..."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731520" y="310896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✅  </a:t>
            </a: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Signal-grounded (what our system produces):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1097280" y="3657600"/>
            <a:ext cx="96008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1a1a2e"/>
                </a:solidFill>
                <a:latin typeface="Calibri"/>
              </a:rPr>
              <a:t>"You closed a $14M Series B in February and your open Python-engineering</a:t>
            </a:r>
            <a:br>
              <a:rPr sz="1800"/>
            </a:br>
            <a:r>
              <a:rPr b="0" lang="en-US" sz="1800" spc="-1" strike="noStrike">
                <a:solidFill>
                  <a:srgbClr val="1a1a2e"/>
                </a:solidFill>
                <a:latin typeface="Calibri"/>
              </a:rPr>
              <a:t>roles tripled since then — the typical bottleneck for teams in that state</a:t>
            </a:r>
            <a:br>
              <a:rPr sz="1800"/>
            </a:br>
            <a:r>
              <a:rPr b="0" lang="en-US" sz="1800" spc="-1" strike="noStrike">
                <a:solidFill>
                  <a:srgbClr val="1a1a2e"/>
                </a:solidFill>
                <a:latin typeface="Calibri"/>
              </a:rPr>
              <a:t>is recruiting capacity, not budget."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731520" y="530352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7acc"/>
                </a:solidFill>
                <a:latin typeface="Calibri"/>
              </a:rPr>
              <a:t>The difference: the second message is verifiable against the prospect's own</a:t>
            </a:r>
            <a:br>
              <a:rPr sz="1800"/>
            </a:br>
            <a:r>
              <a:rPr b="1" lang="en-US" sz="1800" spc="-1" strike="noStrike">
                <a:solidFill>
                  <a:srgbClr val="007acc"/>
                </a:solidFill>
                <a:latin typeface="Calibri"/>
              </a:rPr>
              <a:t>public record and therefore hard to object to.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Multi-Turn Conversation Handling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128016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a1a2e"/>
                </a:solidFill>
                <a:latin typeface="Calibri"/>
              </a:rPr>
              <a:t>6-Class Reply Classification: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731520" y="1828800"/>
            <a:ext cx="5028840" cy="21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Engaged → Qualify + propose discovery call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Curious → 3-sentence context + Cal.com link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Hard no → No reply, mark opted out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Soft defer → Close gracefully + re-engage date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Objection → Pattern-matched handling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Ambiguous → Route to human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6400800" y="128016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74c3c"/>
                </a:solidFill>
                <a:latin typeface="Calibri"/>
              </a:rPr>
              <a:t>Mandatory Human Handoff: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6400800" y="1828800"/>
            <a:ext cx="5028840" cy="17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Pricing outside public bands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Staffing beyond bench summary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Client reference requested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Regulatory/legal terms mentioned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49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C-level at company &gt; 2,000 headcount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731520" y="530352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f8c8d"/>
                </a:solidFill>
                <a:latin typeface="Calibri"/>
              </a:rPr>
              <a:t>The agent handles routine conversations automatically but knows exactly when to step aside.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731520" y="365760"/>
            <a:ext cx="10058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Production Stack — All Verified Running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82" name="Table 2"/>
          <p:cNvGraphicFramePr/>
          <p:nvPr/>
        </p:nvGraphicFramePr>
        <p:xfrm>
          <a:off x="786960" y="1938960"/>
          <a:ext cx="10515240" cy="320004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53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Resend (Email)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Running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11 test emails in sink, trace out_email_send_test-001_0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Africa's Talking (SMS)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Running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Sandbox active, STOP/HELP handling verified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HubSpot Sandbox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Connected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4 sink records: contact, company, note, deal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Cal.com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Running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Mock slots generated, bookings to sink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Langfuse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Running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22 trace entries, dual-write cloud + local JSONL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Render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Live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conversion-engine-2nti.onrender.com/health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3" name="TextBox 3"/>
          <p:cNvSpPr/>
          <p:nvPr/>
        </p:nvSpPr>
        <p:spPr>
          <a:xfrm>
            <a:off x="731520" y="5303520"/>
            <a:ext cx="100580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7acc"/>
                </a:solidFill>
                <a:latin typeface="Calibri"/>
              </a:rPr>
              <a:t>Kill switch: LIVE_MODE=false by default — all outbound to local sink, all outputs marked draft: true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τ²-Bench Baseline (Act I)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1280160"/>
            <a:ext cx="100580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f8c8d"/>
                </a:solidFill>
                <a:latin typeface="Calibri"/>
              </a:rPr>
              <a:t>τ²-Bench: Sierra Research's conversational agent benchmark. Retail domain = closest analog to B2B qualification.</a:t>
            </a:r>
            <a:endParaRPr b="0" lang="en-US" sz="1600" spc="-1" strike="noStrike">
              <a:latin typeface="Arial"/>
            </a:endParaRPr>
          </a:p>
        </p:txBody>
      </p:sp>
      <p:graphicFrame>
        <p:nvGraphicFramePr>
          <p:cNvPr id="86" name="Table 3"/>
          <p:cNvGraphicFramePr/>
          <p:nvPr/>
        </p:nvGraphicFramePr>
        <p:xfrm>
          <a:off x="731520" y="2011680"/>
          <a:ext cx="10515240" cy="228564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532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Instructor Baseline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Our Reproduction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Model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gpt-4.1 (direct OpenAI)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gpt-4.1 (via OpenRouter)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Tasks × Trials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30 × 5 = 150 sims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30 × 1 = 30 sims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pass@1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72.67%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63.3%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95% CI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[65.0%, 79.2%]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[45.5%, 78.1%]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81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Cost/task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$0.02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$0.53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TextBox 4"/>
          <p:cNvSpPr/>
          <p:nvPr/>
        </p:nvSpPr>
        <p:spPr>
          <a:xfrm>
            <a:off x="731520" y="4754880"/>
            <a:ext cx="100580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CIs overlap → our reproduction is consistent with the instructor baseline.</a:t>
            </a:r>
            <a:br>
              <a:rPr sz="1600"/>
            </a:b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The gap is primarily due to sample size (30 vs 150 simulations).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731520" y="365760"/>
            <a:ext cx="10058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Adversarial Probing (Act III) — 33 Probes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89" name="Table 2"/>
          <p:cNvGraphicFramePr/>
          <p:nvPr/>
        </p:nvGraphicFramePr>
        <p:xfrm>
          <a:off x="642240" y="1764000"/>
          <a:ext cx="10515240" cy="36572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8720"/>
                <a:gridCol w="2629080"/>
              </a:tblGrid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Probes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Failures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ICP Misclassification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All correct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Signal Over-Claiming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Honesty flags work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Bench Over-Commitment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Bench gating works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Tone Drift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Subject line &gt; 60 chars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6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Multi-Thread Leakage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✅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Threads keyed by prospect_id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Cost Pathology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Max-steps reasoning loop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Dual-Control Coordination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Auth never checked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Scheduling Edge Cases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Timezone labels missing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Signal Reliability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Stale Crunchbase data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Gap Over-Claiming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2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URL validation gap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0" name="TextBox 3"/>
          <p:cNvSpPr/>
          <p:nvPr/>
        </p:nvSpPr>
        <p:spPr>
          <a:xfrm>
            <a:off x="686160" y="5824440"/>
            <a:ext cx="100580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e74c3c"/>
                </a:solidFill>
                <a:latin typeface="Calibri"/>
              </a:rPr>
              <a:t>Target failure: Max-steps loop — 60% trigger rate, $50K–$190K/mo revenue impact, fixable via prompt engineering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Mechanism Design (Act IV)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731520" y="109728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7acc"/>
                </a:solidFill>
                <a:latin typeface="Calibri"/>
              </a:rPr>
              <a:t>Policy-Aware Agent — 3 rules added to system prompt (~80 extra tokens)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1097280" y="2011680"/>
            <a:ext cx="9143640" cy="31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2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①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AUTHENTICATE FIRST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Verify user identity before any account action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②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CONFIRM BEFORE CHANGES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State what you'll do, wait for user approval before executing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FOLLOW POLICY EXACTLY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Apply all policy rules strictly — return windows, refund methods, non-returnable items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914400" y="5257800"/>
            <a:ext cx="1005804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7f8c8d"/>
                </a:solidFill>
                <a:latin typeface="Calibri"/>
              </a:rPr>
              <a:t>Design iteration: First version was 350 tokens with a 5-step workflow</a:t>
            </a:r>
            <a:br>
              <a:rPr sz="1500"/>
            </a:br>
            <a:r>
              <a:rPr b="0" lang="en-US" sz="1500" spc="-1" strike="noStrike">
                <a:solidFill>
                  <a:srgbClr val="7f8c8d"/>
                </a:solidFill>
                <a:latin typeface="Calibri"/>
              </a:rPr>
              <a:t>→ made gpt-4.1 MORE verbose → 3/5 tasks hit max-steps (worse than baseline)</a:t>
            </a:r>
            <a:br>
              <a:rPr sz="1500"/>
            </a:br>
            <a:r>
              <a:rPr b="0" lang="en-US" sz="1500" spc="-1" strike="noStrike">
                <a:solidFill>
                  <a:srgbClr val="7f8c8d"/>
                </a:solidFill>
                <a:latin typeface="Calibri"/>
              </a:rPr>
              <a:t>→ Refined to 80 tokens with just 3 rules → zero max-steps hits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731520" y="365760"/>
            <a:ext cx="10058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Mechanism Results — 30 Tasks × 1 Trial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96" name="Table 2"/>
          <p:cNvGraphicFramePr/>
          <p:nvPr/>
        </p:nvGraphicFramePr>
        <p:xfrm>
          <a:off x="838800" y="1768680"/>
          <a:ext cx="10515240" cy="22856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8720"/>
                <a:gridCol w="262908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Instructor Ref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pass@1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63.3%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70.0%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72.7%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95% CI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[45.5%, 78.1%]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[52.1%, 83.3%]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[65.0%, 79.2%]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DB match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100%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Cost/task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$0.53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$0.15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$0.02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81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p95 latency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49.1s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38.0s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551.6s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TextBox 3"/>
          <p:cNvSpPr/>
          <p:nvPr/>
        </p:nvSpPr>
        <p:spPr>
          <a:xfrm>
            <a:off x="731520" y="4330080"/>
            <a:ext cx="10058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7ae60"/>
                </a:solidFill>
                <a:latin typeface="Calibri"/>
              </a:rPr>
              <a:t>Delta A: +6.7 percentage points (positive)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731520" y="4754880"/>
            <a:ext cx="100580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Fisher p = 0.39 (not significant at p&lt;0.05 — needs 5 trials for statistical power)</a:t>
            </a:r>
            <a:br>
              <a:rPr sz="1600"/>
            </a:b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Mechanism nearly matches instructor reference (70.0% vs 72.7%) while being 72% cheaper per task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Ablation — Which Rule Matters Most?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100" name="Table 2"/>
          <p:cNvGraphicFramePr/>
          <p:nvPr/>
        </p:nvGraphicFramePr>
        <p:xfrm>
          <a:off x="731520" y="1371600"/>
          <a:ext cx="10515240" cy="25599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8720"/>
                <a:gridCol w="2629080"/>
              </a:tblGrid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Rules Added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pass@1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Key Insight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Baseline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None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20% (dev)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Default behavior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Auth-only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Rule 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20% (dev)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No reward impact alone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Confirm-only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Rule 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40% (dev)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PRIMARY DRIVER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Full mechanism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Rules 1+2+3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70% (held-out)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Best combined result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1" name="TextBox 3"/>
          <p:cNvSpPr/>
          <p:nvPr/>
        </p:nvSpPr>
        <p:spPr>
          <a:xfrm>
            <a:off x="731520" y="4389120"/>
            <a:ext cx="10058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1a1a2e"/>
                </a:solidFill>
                <a:latin typeface="Calibri"/>
              </a:rPr>
              <a:t>Key finding: The confirm-before-write rule is the highest-impact single intervention.</a:t>
            </a:r>
            <a:br>
              <a:rPr sz="1800"/>
            </a:br>
            <a:r>
              <a:rPr b="0" lang="en-US" sz="1800" spc="-1" strike="noStrike">
                <a:solidFill>
                  <a:srgbClr val="1a1a2e"/>
                </a:solidFill>
                <a:latin typeface="Calibri"/>
              </a:rPr>
              <a:t>It forces the agent to restate parameters before executing, catching errors</a:t>
            </a:r>
            <a:br>
              <a:rPr sz="1800"/>
            </a:br>
            <a:r>
              <a:rPr b="0" lang="en-US" sz="1800" spc="-1" strike="noStrike">
                <a:solidFill>
                  <a:srgbClr val="1a1a2e"/>
                </a:solidFill>
                <a:latin typeface="Calibri"/>
              </a:rPr>
              <a:t>that would otherwise cause DB mismatch and task failure.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System Latency (40 Real Interactions)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103" name="Table 2"/>
          <p:cNvGraphicFramePr/>
          <p:nvPr/>
        </p:nvGraphicFramePr>
        <p:xfrm>
          <a:off x="731520" y="1371600"/>
          <a:ext cx="10515240" cy="27428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8720"/>
                <a:gridCol w="262908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p50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p95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Bottleneck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Enrichment (all 6 signals)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10.1s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20.9s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Playwright + LLM calls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Outreach (LLM email composition)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13.0s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43.3s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OpenRouter inference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Reply handling (classify + respond)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14.5s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16.3s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 sequential LLM calls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Webhooks (email + SMS)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0.7s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0.7s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Pure HTTP, no LLM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Overall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11.9s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20.9s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3"/>
          <p:cNvSpPr/>
          <p:nvPr/>
        </p:nvSpPr>
        <p:spPr>
          <a:xfrm>
            <a:off x="731520" y="4754880"/>
            <a:ext cx="100580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f8c8d"/>
                </a:solidFill>
                <a:latin typeface="Calibri"/>
              </a:rPr>
              <a:t>Acceptable for email-based B2B outreach where prospects expect responses</a:t>
            </a:r>
            <a:br>
              <a:rPr sz="1600"/>
            </a:br>
            <a:r>
              <a:rPr b="0" lang="en-US" sz="1600" spc="-1" strike="noStrike">
                <a:solidFill>
                  <a:srgbClr val="7f8c8d"/>
                </a:solidFill>
                <a:latin typeface="Calibri"/>
              </a:rPr>
              <a:t>within hours, not seconds. Bottleneck is LLM inference via OpenRouter.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Projected Business Impact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731520" y="109728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f8c8d"/>
                </a:solidFill>
                <a:latin typeface="Calibri"/>
              </a:rPr>
              <a:t>All numbers from Tenacious seed data (baseline_numbers.md + pricing_sheet.md):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107" name="Table 3"/>
          <p:cNvGraphicFramePr/>
          <p:nvPr/>
        </p:nvGraphicFramePr>
        <p:xfrm>
          <a:off x="731520" y="1645920"/>
          <a:ext cx="10515240" cy="2285640"/>
        </p:xfrm>
        <a:graphic>
          <a:graphicData uri="http://schemas.openxmlformats.org/drawingml/2006/table">
            <a:tbl>
              <a:tblPr/>
              <a:tblGrid>
                <a:gridCol w="1752480"/>
                <a:gridCol w="1752480"/>
                <a:gridCol w="1752480"/>
                <a:gridCol w="1752480"/>
                <a:gridCol w="1752480"/>
                <a:gridCol w="1752840"/>
              </a:tblGrid>
              <a:tr h="571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Segments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Outbound/wk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Reply rate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Qualified/mo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ACV range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571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Pilot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Segment 1 only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60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7–12%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8–14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$240K–$720K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Two segments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Seg 1 + 2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120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7–12%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16–28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$480K–$1.4M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71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Full deploy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All 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240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7–12%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32–56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$960K–$2.8M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TextBox 4"/>
          <p:cNvSpPr/>
          <p:nvPr/>
        </p:nvSpPr>
        <p:spPr>
          <a:xfrm>
            <a:off x="731520" y="4389120"/>
            <a:ext cx="50288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Stalled-thread rate:</a:t>
            </a:r>
            <a:br>
              <a:rPr sz="1600"/>
            </a:b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  Current manual: 30–40%</a:t>
            </a:r>
            <a:br>
              <a:rPr sz="1600"/>
            </a:b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  System target: &lt; 15%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6400800" y="4389120"/>
            <a:ext cx="50288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Cost per qualified lead:</a:t>
            </a:r>
            <a:br>
              <a:rPr sz="1600"/>
            </a:b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  Target: &lt; $5</a:t>
            </a:r>
            <a:br>
              <a:rPr sz="1600"/>
            </a:b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  Achieved: $0.15/task (τ²-Bench)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Pilot Recommendation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731520" y="1188720"/>
            <a:ext cx="1005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7acc"/>
                </a:solidFill>
                <a:latin typeface="Calibri"/>
              </a:rPr>
              <a:t>Start with Segment 1 — Recently Funded Series A/B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1097280" y="2011680"/>
            <a:ext cx="914364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44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Why: Clearest signal (Crunchbase funding data), highest bench match, shortest sales cycle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4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Volume: 60 outbound/week (matches current SDR capacity)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4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Duration: 30 days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4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Success metric: Reply rate &gt; 5% (vs 1–3% baseline cold email)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731520" y="475488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74c3c"/>
                </a:solidFill>
                <a:latin typeface="Calibri"/>
              </a:rPr>
              <a:t>Kill-Switch Triggers — pause the system if: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1097280" y="5303520"/>
            <a:ext cx="9143640" cy="9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51"/>
              </a:spcAft>
              <a:buNone/>
            </a:pPr>
            <a:r>
              <a:rPr b="0" lang="en-US" sz="1500" spc="-1" strike="noStrike">
                <a:solidFill>
                  <a:srgbClr val="f39c12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39c12"/>
                </a:solidFill>
                <a:latin typeface="Calibri"/>
              </a:rPr>
              <a:t>Reply rate &lt; 2% after 200 sends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51"/>
              </a:spcAft>
              <a:buNone/>
            </a:pPr>
            <a:r>
              <a:rPr b="0" lang="en-US" sz="1500" spc="-1" strike="noStrike">
                <a:solidFill>
                  <a:srgbClr val="f39c12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39c12"/>
                </a:solidFill>
                <a:latin typeface="Calibri"/>
              </a:rPr>
              <a:t>Any prospect publicly complains about factual errors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51"/>
              </a:spcAft>
              <a:buNone/>
            </a:pPr>
            <a:r>
              <a:rPr b="0" lang="en-US" sz="1500" spc="-1" strike="noStrike">
                <a:solidFill>
                  <a:srgbClr val="f39c12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39c12"/>
                </a:solidFill>
                <a:latin typeface="Calibri"/>
              </a:rPr>
              <a:t>Stalled-thread rate exceeds 40% (worse than manual process)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Known Limitations &amp; Risks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731520" y="1280160"/>
            <a:ext cx="10058040" cy="35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①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No real reply-rate data — All prospects are synthetic. The 7–12% projection is from industry benchmarks, not measured.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②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Signal lossiness — Quietly sophisticated companies (AI in private repos) score 0. Loud-but-shallow companies (AI in marketing only) may score 2.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③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Gap brief URL validation — LLM-generated source URLs are not verified. 5% error rate on 1,000 emails = 50 wrong-signal emails.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④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Single-trial evaluation — 30 tasks × 1 trial. Statistical significance requires 5+ trials (p=0.39 currently).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⑤ </a:t>
            </a:r>
            <a:r>
              <a:rPr b="0" lang="en-US" sz="1500" spc="-1" strike="noStrike">
                <a:solidFill>
                  <a:srgbClr val="1a1a2e"/>
                </a:solidFill>
                <a:latin typeface="Calibri"/>
              </a:rPr>
              <a:t>Stale Crunchbase data — Frozen snapshot, no freshness check.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Next Steps for Production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118" name="Table 2"/>
          <p:cNvGraphicFramePr/>
          <p:nvPr/>
        </p:nvGraphicFramePr>
        <p:xfrm>
          <a:off x="731520" y="1371600"/>
          <a:ext cx="10515240" cy="411444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5320"/>
              </a:tblGrid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518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Run 30 × 5 trial evaluation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Statistical significance for mechanism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Subject line length constraint (&lt; 60 chars)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+10–15% email open rate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Crunchbase data freshness check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Prevent stale-signal errors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Validate gap brief source URLs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Prevent fabricated claims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Add timezone labels to scheduling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Prevent missed discovery calls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Register AT production sender ID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Enable live SMS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30-day pilot on Segment 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Real reply-rate measurement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Demo Highlights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731520" y="1371600"/>
            <a:ext cx="10058040" cy="34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361"/>
              </a:spcAft>
              <a:buNone/>
            </a:pPr>
            <a:r>
              <a:rPr b="0" lang="en-US" sz="1700" spc="-1" strike="noStrike">
                <a:solidFill>
                  <a:srgbClr val="1a1a2e"/>
                </a:solidFill>
                <a:latin typeface="Calibri"/>
              </a:rPr>
              <a:t>1. Enrichment: Company name → full hiring signal brief + competitor gap brief in ~10s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61"/>
              </a:spcAft>
              <a:buNone/>
            </a:pPr>
            <a:r>
              <a:rPr b="0" lang="en-US" sz="1700" spc="-1" strike="noStrike">
                <a:solidFill>
                  <a:srgbClr val="1a1a2e"/>
                </a:solidFill>
                <a:latin typeface="Calibri"/>
              </a:rPr>
              <a:t>2. Classification: Post-layoff + funded company correctly routed to Segment 2 (not Segment 1)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61"/>
              </a:spcAft>
              <a:buNone/>
            </a:pPr>
            <a:r>
              <a:rPr b="0" lang="en-US" sz="1700" spc="-1" strike="noStrike">
                <a:solidFill>
                  <a:srgbClr val="1a1a2e"/>
                </a:solidFill>
                <a:latin typeface="Calibri"/>
              </a:rPr>
              <a:t>3. Outreach: Signal-grounded email with verifiable claims, honesty flags respected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61"/>
              </a:spcAft>
              <a:buNone/>
            </a:pPr>
            <a:r>
              <a:rPr b="0" lang="en-US" sz="1700" spc="-1" strike="noStrike">
                <a:solidFill>
                  <a:srgbClr val="1a1a2e"/>
                </a:solidFill>
                <a:latin typeface="Calibri"/>
              </a:rPr>
              <a:t>4. Reply handling: Objection ("too expensive") → pricing pattern → human handoff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61"/>
              </a:spcAft>
              <a:buNone/>
            </a:pPr>
            <a:r>
              <a:rPr b="0" lang="en-US" sz="1700" spc="-1" strike="noStrike">
                <a:solidFill>
                  <a:srgbClr val="1a1a2e"/>
                </a:solidFill>
                <a:latin typeface="Calibri"/>
              </a:rPr>
              <a:t>5. HubSpot: All fields populated, enrichment timestamps, deal created on qualification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61"/>
              </a:spcAft>
              <a:buNone/>
            </a:pPr>
            <a:r>
              <a:rPr b="0" lang="en-US" sz="1700" spc="-1" strike="noStrike">
                <a:solidFill>
                  <a:srgbClr val="1a1a2e"/>
                </a:solidFill>
                <a:latin typeface="Calibri"/>
              </a:rPr>
              <a:t>6. Kill switch: Everything routes to local sink, all outputs marked draft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61"/>
              </a:spcAft>
              <a:buNone/>
            </a:pPr>
            <a:r>
              <a:rPr b="0" lang="en-US" sz="1700" spc="-1" strike="noStrike">
                <a:solidFill>
                  <a:srgbClr val="1a1a2e"/>
                </a:solidFill>
                <a:latin typeface="Calibri"/>
              </a:rPr>
              <a:t>7. τ²-Bench: Mechanism achieves 70% pass@1, nearly matching instructor reference (72.7%)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Summary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122" name="Table 2"/>
          <p:cNvGraphicFramePr/>
          <p:nvPr/>
        </p:nvGraphicFramePr>
        <p:xfrm>
          <a:off x="731520" y="1371600"/>
          <a:ext cx="10515240" cy="41144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System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End-to-end lead gen + conversion pipeline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Enrichment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6 signal sources + competitor gap analysis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Classification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4 ICP segments + abstention at &lt; 0.6 confidence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Channels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Email (primary) → SMS (warm) → Voice (human call)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τ²-Bench baseline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63.3% pass@1 (reproduces instructor's 72.7%)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Mechanism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70.0% pass@1 (+6.7% over baseline, Delta A positive)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Probes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33 adversarial probes, 5 active failures identified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Safety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Kill switch, draft marking, honesty flags, human handoff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3" name="TextBox 3"/>
          <p:cNvSpPr/>
          <p:nvPr/>
        </p:nvSpPr>
        <p:spPr>
          <a:xfrm>
            <a:off x="731520" y="566928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27ae60"/>
                </a:solidFill>
                <a:latin typeface="Calibri"/>
              </a:rPr>
              <a:t>The system is ready for a controlled pilot on Segment 1.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914400" y="1828800"/>
            <a:ext cx="10058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914400" y="320040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7acc"/>
                </a:solidFill>
                <a:latin typeface="Calibri"/>
              </a:rPr>
              <a:t>Live API: conversion-engine-2nti.onrender.com/health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914400" y="4572000"/>
            <a:ext cx="10058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7f8c8d"/>
                </a:solidFill>
                <a:latin typeface="Calibri"/>
              </a:rPr>
              <a:t>Find the lead. Ground the conversation.</a:t>
            </a:r>
            <a:br>
              <a:rPr sz="2200"/>
            </a:br>
            <a:r>
              <a:rPr b="0" lang="en-US" sz="2200" spc="-1" strike="noStrike">
                <a:solidFill>
                  <a:srgbClr val="7f8c8d"/>
                </a:solidFill>
                <a:latin typeface="Calibri"/>
              </a:rPr>
              <a:t>Respect the brand. Ship it.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2026-04-28T00:24:35Z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